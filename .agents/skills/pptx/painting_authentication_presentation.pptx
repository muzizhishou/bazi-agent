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基于CNN与滑窗特征提取的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绘画认证研究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2F2F2"/>
                </a:solidFill>
              </a:rPr>
              <a:t>Painting Authentication Using CNNs and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2F2F2"/>
                </a:solidFill>
              </a:rPr>
              <a:t>Sliding Window Feature Extraction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</a:rPr>
              <a:t>Ruiz de Miras et al., 2026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</a:rPr>
              <a:t>Frontiers in Artificial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选题背景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艺术品认证的复杂性</a:t>
            </a:r>
            <a:endParaRPr lang="en-US" sz="1600" dirty="0"/>
          </a:p>
          <a:p>
            <a:pPr marL="381000" indent="-3810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需整合历史专业知识、科学分析与计算技术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深度学习在艺术分析中的应用</a:t>
            </a:r>
            <a:endParaRPr lang="en-US" sz="1600" dirty="0"/>
          </a:p>
          <a:p>
            <a:pPr marL="381000" indent="-3810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CNN可通过图像直接学习复杂视觉模式</a:t>
            </a:r>
            <a:endParaRPr lang="en-US" sz="1600" dirty="0"/>
          </a:p>
          <a:p>
            <a:pPr marL="381000" indent="-3810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在多项研究中展现高准确率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核心挑战：数据稀缺性</a:t>
            </a:r>
            <a:endParaRPr lang="en-US" sz="1600" dirty="0"/>
          </a:p>
          <a:p>
            <a:pPr marL="381000" indent="-3810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传统深度学习需要数百或数千张标注图像</a:t>
            </a:r>
            <a:endParaRPr lang="en-US" sz="1600" dirty="0"/>
          </a:p>
          <a:p>
            <a:pPr marL="381000" indent="-3810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单幅画作认证时，真实训练样本极为有限</a:t>
            </a:r>
            <a:endParaRPr lang="en-US" sz="1600" dirty="0"/>
          </a:p>
          <a:p>
            <a:pPr marL="381000" indent="-3810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标准深度模型易过拟合，泛化能力差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文献检索策略：AI智能体辅助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① 检索智能体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关键词生成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相关论文发现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引用网络分析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463040"/>
            <a:ext cx="320040" cy="1828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10972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234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② 阅读智能体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PDF解析提取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关键内容摘要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方法论识别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463040"/>
            <a:ext cx="320040" cy="18288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0972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234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③ 分析智能体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结果对比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方法评估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创新点提取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本次检索中的AI应用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374904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97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智能检索与筛选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01752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自动识别相关关键词组合</a:t>
            </a:r>
            <a:endParaRPr lang="en-US" sz="1100" dirty="0"/>
          </a:p>
          <a:p>
            <a:pPr marL="254000" indent="-2540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authentication + CNN + painting + data scarcity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endParaRPr lang="en-US" sz="11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从数据库筛选高引用论文</a:t>
            </a:r>
            <a:endParaRPr lang="en-US" sz="1100" dirty="0"/>
          </a:p>
          <a:p>
            <a:pPr marL="254000" indent="-2540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Elgammal 2018, Ugail 2023, Schaerf 2024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endParaRPr lang="en-US" sz="11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识别研究趋势：迁移学习 → Transformers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560320"/>
            <a:ext cx="393192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697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AI辅助深度阅读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301752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自动解析PDF并提取核心章节</a:t>
            </a:r>
            <a:endParaRPr lang="en-US" sz="1100" dirty="0"/>
          </a:p>
          <a:p>
            <a:pPr marL="254000" indent="-2540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数据集、方法论、结果、限制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endParaRPr lang="en-US" sz="11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生成结构化摘要</a:t>
            </a:r>
            <a:endParaRPr lang="en-US" sz="1100" dirty="0"/>
          </a:p>
          <a:p>
            <a:pPr marL="254000" indent="-2540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问题 → 方法 → 结果 → 创新点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endParaRPr lang="en-US" sz="11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对比分析：浅层CNN vs 预训练模型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作者、机构、资助背景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344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作者团队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Juan Ruiz de Miras (通讯作者)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José Luis Vélchez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María José Gacto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Domingo Martín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23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研究机构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University of Granada, Spain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• 软件工程系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• 分析化学系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• Biosanitary Research Institute (ibs.GRANADA)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• 数据科学与计算智能研究所 (DaSCI)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7947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资助来源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41148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西班牙科学创新部 (PID2024161348OB-I00)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12121"/>
                </a:solidFill>
              </a:rPr>
              <a:t>Carlos III健康研究所 (PI23/00129)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研究问题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97280"/>
            <a:ext cx="41148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0" y="109728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065A82">
              <a:alpha val="5000"/>
            </a:srgbClr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20640" y="12344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研究对象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120640" y="15544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12121"/>
                </a:solidFill>
              </a:rPr>
              <a:t>《圣家族》画作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12121"/>
                </a:solidFill>
              </a:rPr>
              <a:t>归属于Paolo Veronese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12121"/>
                </a:solidFill>
              </a:rPr>
              <a:t>（可能为本人、工作室或追随者）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937760" y="2651760"/>
            <a:ext cx="3657600" cy="1645920"/>
          </a:xfrm>
          <a:prstGeom prst="roundRect">
            <a:avLst>
              <a:gd name="adj" fmla="val 8333"/>
            </a:avLst>
          </a:prstGeom>
          <a:solidFill>
            <a:srgbClr val="1C7293">
              <a:alpha val="8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2788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核心挑战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120640" y="31089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仅6幅训练画作（极度数据稀缺）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限定同一主题（圣家族）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聚焦风格特征而非图像内容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区分大师、工作室与追随者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研究方法：完整流程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① 原始画作 640×640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011680" cy="1463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121"/>
                </a:solidFill>
              </a:rPr>
              <a:t>待认证的圣家族画作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121"/>
                </a:solidFill>
              </a:rPr>
              <a:t>• 裁剪为正方形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121"/>
                </a:solidFill>
              </a:rPr>
              <a:t>• 归一化尺寸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2011680"/>
            <a:ext cx="365760" cy="2286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② 多通道提取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011680" cy="1463040"/>
          </a:xfrm>
          <a:prstGeom prst="rect">
            <a:avLst/>
          </a:prstGeom>
          <a:solidFill>
            <a:srgbClr val="1C7293">
              <a:alpha val="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5087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12121"/>
                </a:solidFill>
              </a:rPr>
              <a:t>RGB (3通道)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12121"/>
                </a:solidFill>
              </a:rPr>
              <a:t>+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12121"/>
                </a:solidFill>
              </a:rPr>
              <a:t>灰度 (1通道)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12121"/>
                </a:solidFill>
              </a:rPr>
              <a:t>+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12121"/>
                </a:solidFill>
              </a:rPr>
              <a:t>Canny边缘 (1通道)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011680"/>
            <a:ext cx="365760" cy="2286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③ 滑窗分块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371600"/>
            <a:ext cx="2011680" cy="1463040"/>
          </a:xfrm>
          <a:prstGeom prst="rect">
            <a:avLst/>
          </a:prstGeom>
          <a:solidFill>
            <a:srgbClr val="21295C">
              <a:alpha val="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5087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12121"/>
                </a:solidFill>
              </a:rPr>
              <a:t>64×64窗口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12121"/>
                </a:solidFill>
              </a:rPr>
              <a:t>65%重叠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12121"/>
                </a:solidFill>
              </a:rPr>
              <a:t>→ 729个分块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12121"/>
                </a:solidFill>
              </a:rPr>
              <a:t>5通道输入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④ 浅层CNN架构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65760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661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卷积块1 (16滤波器) + 池化</a:t>
            </a: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卷积块2 (32滤波器) + 池化 + Dropout(0.5)</a:t>
            </a: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全连接层 → Softmax输出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3108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⑤ 训练策略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80560" y="3429000"/>
            <a:ext cx="402336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3566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6折留一法（绘画级验证，防止数据泄露）</a:t>
            </a: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Adam优化器 + L2正则化 + 早停</a:t>
            </a: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数据增强：6幅画 → 4,374个训练样本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核心结果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94.51%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准确率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0.99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5176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AUC-ROC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0.87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Kappa系数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10972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97.15%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灵敏度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真品Veronese画作：80-99%概率，连续高概率区域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endParaRPr lang="en-US" sz="15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非Veronese复制品：12-37%概率，破碎化分布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endParaRPr lang="en-US" sz="15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存疑画作：61%概率（中间值 → 工作室/部分真迹可能）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endParaRPr lang="en-US" sz="15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泛化性能超越MobileNetV2：浅层模型在测试集上建立清晰决策边界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文章优缺点评述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3383280"/>
          </a:xfrm>
          <a:prstGeom prst="rect">
            <a:avLst/>
          </a:prstGeom>
          <a:solidFill>
            <a:srgbClr val="1C729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主要优点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创新的分块策略有效解决极端数据稀缺问题</a:t>
            </a:r>
            <a:endParaRPr lang="en-US" sz="1400" dirty="0"/>
          </a:p>
          <a:p>
            <a:pPr indent="0" marL="0">
              <a:lnSpc>
                <a:spcPts val="1300"/>
              </a:lnSpc>
              <a:buNone/>
            </a:pPr>
            <a:endParaRPr lang="en-US" sz="14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绘画级验证严格防止数据泄露</a:t>
            </a:r>
            <a:endParaRPr lang="en-US" sz="1400" dirty="0"/>
          </a:p>
          <a:p>
            <a:pPr indent="0" marL="0">
              <a:lnSpc>
                <a:spcPts val="1300"/>
              </a:lnSpc>
              <a:buNone/>
            </a:pPr>
            <a:endParaRPr lang="en-US" sz="14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概率热力图提供可解释性</a:t>
            </a:r>
            <a:endParaRPr lang="en-US" sz="1400" dirty="0"/>
          </a:p>
          <a:p>
            <a:pPr indent="0" marL="0">
              <a:lnSpc>
                <a:spcPts val="1300"/>
              </a:lnSpc>
              <a:buNone/>
            </a:pPr>
            <a:endParaRPr lang="en-US" sz="14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多通道设计捕获互补特征</a:t>
            </a:r>
            <a:endParaRPr lang="en-US" sz="1400" dirty="0"/>
          </a:p>
          <a:p>
            <a:pPr indent="0" marL="0">
              <a:lnSpc>
                <a:spcPts val="1300"/>
              </a:lnSpc>
              <a:buNone/>
            </a:pPr>
            <a:endParaRPr lang="en-US" sz="14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定制架构优于通用预训练模型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840480" cy="3383280"/>
          </a:xfrm>
          <a:prstGeom prst="rect">
            <a:avLst/>
          </a:prstGeom>
          <a:solidFill>
            <a:srgbClr val="21295C">
              <a:alpha val="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局限性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仅限于圣家族主题，图像学特异性</a:t>
            </a:r>
            <a:endParaRPr lang="en-US" sz="1400" dirty="0"/>
          </a:p>
          <a:p>
            <a:pPr indent="0" marL="0">
              <a:lnSpc>
                <a:spcPts val="1300"/>
              </a:lnSpc>
              <a:buNone/>
            </a:pPr>
            <a:endParaRPr lang="en-US" sz="14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二分类框架，无法区分工作室/追随者</a:t>
            </a:r>
            <a:endParaRPr lang="en-US" sz="1400" dirty="0"/>
          </a:p>
          <a:p>
            <a:pPr indent="0" marL="0">
              <a:lnSpc>
                <a:spcPts val="1300"/>
              </a:lnSpc>
              <a:buNone/>
            </a:pPr>
            <a:endParaRPr lang="en-US" sz="14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分块方法丧失全局构图信息</a:t>
            </a:r>
            <a:endParaRPr lang="en-US" sz="1400" dirty="0"/>
          </a:p>
          <a:p>
            <a:pPr indent="0" marL="0">
              <a:lnSpc>
                <a:spcPts val="1300"/>
              </a:lnSpc>
              <a:buNone/>
            </a:pPr>
            <a:endParaRPr lang="en-US" sz="14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提供概率证据而非确定性归属</a:t>
            </a:r>
            <a:endParaRPr lang="en-US" sz="1400" dirty="0"/>
          </a:p>
          <a:p>
            <a:pPr indent="0" marL="0">
              <a:lnSpc>
                <a:spcPts val="1300"/>
              </a:lnSpc>
              <a:buNone/>
            </a:pPr>
            <a:endParaRPr lang="en-US" sz="14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需结合历史、技术、来源分析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个人启发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417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定制浅层模型在特定领域可超越大型预训练模型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1737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</a:rPr>
              <a:t>小数据场景下，领域特化比模型规模更重要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488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智能分块数据增强的威力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</a:rPr>
              <a:t>从6幅画扩展到4374个有意义的样本，关键在于保留局部特征连续性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8803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领域约束帮助聚焦风格而非内容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</a:rPr>
              <a:t>限定同一主题，迫使模型学习执行技巧而非语义构图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118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可视化增强人机协作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</a:rPr>
              <a:t>热力图使算法决策透明化，为专家判断提供量化依据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CNN-Based Painting Authentication</dc:title>
  <dc:subject>PptxGenJS Presentation</dc:subject>
  <dc:creator>Paper Review</dc:creator>
  <cp:lastModifiedBy>Paper Review</cp:lastModifiedBy>
  <cp:revision>1</cp:revision>
  <dcterms:created xsi:type="dcterms:W3CDTF">2026-10-13T11:27:43Z</dcterms:created>
  <dcterms:modified xsi:type="dcterms:W3CDTF">2026-10-13T11:27:43Z</dcterms:modified>
</cp:coreProperties>
</file>